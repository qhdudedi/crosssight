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103120"/>
            <a:ext cx="164592" cy="2194560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800" b="1">
                <a:solidFill>
                  <a:srgbClr val="EAE0CF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0">
                <a:solidFill>
                  <a:srgbClr val="7288AE"/>
                </a:solidFill>
                <a:latin typeface="맑은 고딕"/>
              </a:rPr>
              <a:t>CCTV 영상에서 보행자의 자세·움직임을 읽어 '건너려는가'를 확률로 예측하고, 경찰 관제 화면으로 제공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EAE0CF"/>
                </a:solidFill>
                <a:latin typeface="맑은 고딕"/>
              </a:rPr>
              <a:t>YOLO11  ·  BoT-SORT  ·  YOLO11-pose  ·  PCPA(IDD-PeD)  · 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프로젝트 발표자료   |   2026.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73152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2400" b="1">
                <a:solidFill>
                  <a:srgbClr val="EAE0C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371600"/>
            <a:ext cx="9144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1">
                <a:solidFill>
                  <a:srgbClr val="111844"/>
                </a:solidFill>
                <a:latin typeface="맑은 고딕"/>
              </a:rPr>
              <a:t>프로젝트 특화 포인트와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755648"/>
            <a:ext cx="91440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기존 유사 서비스와의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317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73152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2400" b="1">
                <a:solidFill>
                  <a:srgbClr val="EAE0C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331720"/>
            <a:ext cx="9144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1">
                <a:solidFill>
                  <a:srgbClr val="111844"/>
                </a:solidFill>
                <a:latin typeface="맑은 고딕"/>
              </a:rPr>
              <a:t>프로젝트 소개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715768"/>
            <a:ext cx="91440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컨셉 · 아키텍처 · 설계 · 구현 · 핵심 기능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918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73152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2400" b="1">
                <a:solidFill>
                  <a:srgbClr val="EAE0C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291840"/>
            <a:ext cx="9144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1">
                <a:solidFill>
                  <a:srgbClr val="111844"/>
                </a:solidFill>
                <a:latin typeface="맑은 고딕"/>
              </a:rPr>
              <a:t>활용 장비 및 핵심 기술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675888"/>
            <a:ext cx="91440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개발 환경 · 핵심 기술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5196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51960"/>
            <a:ext cx="73152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2400" b="1">
                <a:solidFill>
                  <a:srgbClr val="EAE0C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51960"/>
            <a:ext cx="9144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1">
                <a:solidFill>
                  <a:srgbClr val="111844"/>
                </a:solidFill>
                <a:latin typeface="맑은 고딕"/>
              </a:rPr>
              <a:t>프로젝트 구체적 실행 내역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636008"/>
            <a:ext cx="91440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실행 흐름 · 실측 결과 · 문제 해결 이력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2120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73152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2400" b="1">
                <a:solidFill>
                  <a:srgbClr val="EAE0C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212080"/>
            <a:ext cx="9144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1">
                <a:solidFill>
                  <a:srgbClr val="111844"/>
                </a:solidFill>
                <a:latin typeface="맑은 고딕"/>
              </a:rPr>
              <a:t>활용 방안 및 기대 효과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596128"/>
            <a:ext cx="91440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산출물의 기대 효과 · 비즈니스 실무 활용성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1. 프로젝트 특화 포인트와 차별화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1 / 특화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00" b="1">
                <a:solidFill>
                  <a:srgbClr val="4B5694"/>
                </a:solidFill>
                <a:latin typeface="맑은 고딕"/>
              </a:rPr>
              <a:t>핵심: '보행자가 있다'가 아니라 '건너려 한다'를 미리 알아낸다 - 검출을 넘어 의도 예측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2608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AE0CF"/>
                          </a:solidFill>
                          <a:latin typeface="맑은 고딕"/>
                        </a:rPr>
                        <a:t>비교 항목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AE0CF"/>
                          </a:solidFill>
                          <a:latin typeface="맑은 고딕"/>
                        </a:rPr>
                        <a:t>기존 CCTV 무단횡단·보행자 감지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AE0CF"/>
                          </a:solidFill>
                          <a:latin typeface="맑은 고딕"/>
                        </a:rPr>
                        <a:t>차량용 보행자 예측(ADAS 연구)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AE0CF"/>
                          </a:solidFill>
                          <a:latin typeface="맑은 고딕"/>
                        </a:rPr>
                        <a:t>본 프로젝트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판단 대상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보행자 존재 / 선 넘음 여부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자차 앞 보행자의 횡단 확률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비신호 횡단보도 보행자의 횡단 의도 확률(0~1)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근거 정보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위치(bbox)만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bbox + 자차 속도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bbox + 17개 관절(자세·고개·손짓) + 이동 시작 + 16프레임 영상 조각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고정 CCTV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차량 탑재(블랙박스)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고정 CCTV에 차량용 사전학습 모델(PCPA)을 이식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학습 필요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현장별 재학습 잦음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대규모 주행 데이터 필요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사전학습 3종 조합 - 추가 학습 없이 즉시 동작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추적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프레임 단위 검출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BoT-SORT + ReID로 같은 사람 = 같은 번호 유지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사용자 화면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경보 로그 위주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연구용 시각화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경찰 관제 UI: 대형 영상 + 판정 표 + 결과 저장(mp4/CSV)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4B5694"/>
                </a:solidFill>
                <a:latin typeface="맑은 고딕"/>
              </a:rPr>
              <a:t>차별화 요약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① 자세·제스처 기반 의도 예측  ② 차량용 학습 모델을 CCTV 시점에 맞춰 입력 규격 그대로 재조립  ③ 학습 없이 배포 가능한 파이프라인  ④ 현장(경찰) 관점의 관제 화면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2-1. 프로젝트 소개 - 컨셉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2 / 프로젝트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356616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338328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338328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•  신호등 없는 횡단보도는 운전자가 보행자의 '건널 것인가'를 순간 판단해야 함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•  기존 CCTV 시스템은 사람이 '있다'까지만 알려줌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•  사고 후 확인이 아니라 사고 전 징후가 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56616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280160"/>
            <a:ext cx="338328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83080"/>
            <a:ext cx="338328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•  영상 한 편을 넣으면 보행자마다 횡단 의도 확률이 나오는 시스템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•  같은 사람은 끝까지 같은 번호로 추적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•  경찰이 바로 쓰는 관제 화면 + 결과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280160"/>
            <a:ext cx="356616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80160"/>
            <a:ext cx="338328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접근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83080"/>
            <a:ext cx="338328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•  검출 → 자세 → 의도의 3단계, 모두 공개 사전학습 모델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•  각 모델의 입력·출력 규격을 맞춰 '연결'하는 데 집중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•  고정 카메라 특성(카메라 흔들림 없음)을 설정에 반영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1124712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4B5694"/>
                </a:solidFill>
                <a:latin typeface="맑은 고딕"/>
              </a:rPr>
              <a:t>입력 → 출력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7200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90288"/>
            <a:ext cx="19202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EAE0CF"/>
                </a:solidFill>
                <a:latin typeface="맑은 고딕"/>
              </a:rPr>
              <a:t>CCTV 영상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19202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EAE0CF"/>
                </a:solidFill>
                <a:latin typeface="맑은 고딕"/>
              </a:rPr>
              <a:t>4K mp4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60320" y="5166360"/>
            <a:ext cx="320040" cy="0"/>
          </a:xfrm>
          <a:prstGeom prst="line">
            <a:avLst/>
          </a:prstGeom>
          <a:ln w="31750">
            <a:solidFill>
              <a:srgbClr val="7288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80360" y="457200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4590288"/>
            <a:ext cx="19202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EAE0CF"/>
                </a:solidFill>
                <a:latin typeface="맑은 고딕"/>
              </a:rPr>
              <a:t>보행자·차량 검출 + 추적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212080"/>
            <a:ext cx="19202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EAE0CF"/>
                </a:solidFill>
                <a:latin typeface="맑은 고딕"/>
              </a:rPr>
              <a:t>bbox, track_id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00600" y="5166360"/>
            <a:ext cx="320040" cy="0"/>
          </a:xfrm>
          <a:prstGeom prst="line">
            <a:avLst/>
          </a:prstGeom>
          <a:ln w="31750">
            <a:solidFill>
              <a:srgbClr val="7288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20640" y="457200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4590288"/>
            <a:ext cx="19202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EAE0CF"/>
                </a:solidFill>
                <a:latin typeface="맑은 고딕"/>
              </a:rPr>
              <a:t>관절 17개 → 자세 지표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212080"/>
            <a:ext cx="19202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EAE0CF"/>
                </a:solidFill>
                <a:latin typeface="맑은 고딕"/>
              </a:rPr>
              <a:t>고개 돌림, 손짓, 이동 시작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40880" y="5166360"/>
            <a:ext cx="320040" cy="0"/>
          </a:xfrm>
          <a:prstGeom prst="line">
            <a:avLst/>
          </a:prstGeom>
          <a:ln w="31750">
            <a:solidFill>
              <a:srgbClr val="7288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60920" y="457200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4590288"/>
            <a:ext cx="19202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EAE0CF"/>
                </a:solidFill>
                <a:latin typeface="맑은 고딕"/>
              </a:rPr>
              <a:t>최근 16프레임 → 의도 확률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5212080"/>
            <a:ext cx="19202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EAE0CF"/>
                </a:solidFill>
                <a:latin typeface="맑은 고딕"/>
              </a:rPr>
              <a:t>PCPA 0~1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81160" y="5166360"/>
            <a:ext cx="320040" cy="0"/>
          </a:xfrm>
          <a:prstGeom prst="line">
            <a:avLst/>
          </a:prstGeom>
          <a:ln w="31750">
            <a:solidFill>
              <a:srgbClr val="7288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601200" y="457200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4590288"/>
            <a:ext cx="192024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EAE0CF"/>
                </a:solidFill>
                <a:latin typeface="맑은 고딕"/>
              </a:rPr>
              <a:t>관제 화면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212080"/>
            <a:ext cx="19202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EAE0CF"/>
                </a:solidFill>
                <a:latin typeface="맑은 고딕"/>
              </a:rPr>
              <a:t>영상 + 판정 표 + 저장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2-2. 프로젝트 소개 -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2 / 프로젝트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86000"/>
            <a:ext cx="1280160" cy="1188720"/>
          </a:xfrm>
          <a:prstGeom prst="roundRect">
            <a:avLst>
              <a:gd name="adj" fmla="val 12000"/>
            </a:avLst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280160" cy="11887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EAE0CF"/>
                </a:solidFill>
                <a:latin typeface="맑은 고딕"/>
              </a:rPr>
              <a:t>영상 프레임
(3840×2160)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371600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B5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20240" y="13716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371600"/>
            <a:ext cx="292608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EAE0CF"/>
                </a:solidFill>
                <a:latin typeface="맑은 고딕"/>
              </a:rPr>
              <a:t>[1] 객체 검출 + 추적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4B5694"/>
                </a:solidFill>
                <a:latin typeface="맑은 고딕"/>
              </a:rPr>
              <a:t>YOLO11 (COCO) + BoT-SORT/ReID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286000"/>
            <a:ext cx="2743200" cy="2057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111844"/>
                </a:solidFill>
                <a:latin typeface="맑은 고딕"/>
              </a:rPr>
              <a:t>•  사람·차량(car, motorcycle, bus, truck)만 검출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11844"/>
                </a:solidFill>
                <a:latin typeface="맑은 고딕"/>
              </a:rPr>
              <a:t>•  같은 사람 = 같은 track_id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11844"/>
                </a:solidFill>
                <a:latin typeface="맑은 고딕"/>
              </a:rPr>
              <a:t>•  설정: tracker.yaml (ReID, 10초 유지, 흔들림 보정 off)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B5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3716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371600"/>
            <a:ext cx="292608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EAE0CF"/>
                </a:solidFill>
                <a:latin typeface="맑은 고딕"/>
              </a:rPr>
              <a:t>[2] 자세 / 제스처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92024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4B5694"/>
                </a:solidFill>
                <a:latin typeface="맑은 고딕"/>
              </a:rPr>
              <a:t>YOLO11-pose (COCO Keypoints 17)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286000"/>
            <a:ext cx="2743200" cy="2057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111844"/>
                </a:solidFill>
                <a:latin typeface="맑은 고딕"/>
              </a:rPr>
              <a:t>•  bbox 1.5배 crop → 관절 17개 + 신뢰도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11844"/>
                </a:solidFill>
                <a:latin typeface="맑은 고딕"/>
              </a:rPr>
              <a:t>•  지표: 몸 방향, 고개 돌림, 손짓, 걷는 속도, 이동 시작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11844"/>
                </a:solidFill>
                <a:latin typeface="맑은 고딕"/>
              </a:rPr>
              <a:t>•  관절은 [3]의 pose 입력으로도 사용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371600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B5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3716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371600"/>
            <a:ext cx="292608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EAE0CF"/>
                </a:solidFill>
                <a:latin typeface="맑은 고딕"/>
              </a:rPr>
              <a:t>[3] 횡단 의도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92024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4B5694"/>
                </a:solidFill>
                <a:latin typeface="맑은 고딕"/>
              </a:rPr>
              <a:t>PCPA (IDD-PeD 체크포인트, TF/Keras)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86000"/>
            <a:ext cx="2743200" cy="2057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111844"/>
                </a:solidFill>
                <a:latin typeface="맑은 고딕"/>
              </a:rPr>
              <a:t>•  최근 16프레임 슬라이딩 버퍼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11844"/>
                </a:solidFill>
                <a:latin typeface="맑은 고딕"/>
              </a:rPr>
              <a:t>•  입력: local context(112²)·pose(34)·box(4)·speed(1)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111844"/>
                </a:solidFill>
                <a:latin typeface="맑은 고딕"/>
              </a:rPr>
              <a:t>•  C3D + GRU×3 + attention → 확률 0~1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45920" y="2880360"/>
            <a:ext cx="274320" cy="0"/>
          </a:xfrm>
          <a:prstGeom prst="line">
            <a:avLst/>
          </a:prstGeom>
          <a:ln w="31750">
            <a:solidFill>
              <a:srgbClr val="7288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46320" y="2880360"/>
            <a:ext cx="274320" cy="0"/>
          </a:xfrm>
          <a:prstGeom prst="line">
            <a:avLst/>
          </a:prstGeom>
          <a:ln w="31750">
            <a:solidFill>
              <a:srgbClr val="7288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46720" y="2880360"/>
            <a:ext cx="274320" cy="0"/>
          </a:xfrm>
          <a:prstGeom prst="line">
            <a:avLst/>
          </a:prstGeom>
          <a:ln w="31750">
            <a:solidFill>
              <a:srgbClr val="7288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920240" y="4663440"/>
            <a:ext cx="9326880" cy="1554480"/>
          </a:xfrm>
          <a:prstGeom prst="roundRect">
            <a:avLst>
              <a:gd name="adj" fmla="val 6000"/>
            </a:avLst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4709160"/>
            <a:ext cx="8961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1">
                <a:solidFill>
                  <a:srgbClr val="EAE0CF"/>
                </a:solidFill>
                <a:latin typeface="맑은 고딕"/>
              </a:rPr>
              <a:t>연결 · 서비스 계층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074920"/>
            <a:ext cx="438912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EAE0CF"/>
                </a:solidFill>
                <a:latin typeface="맑은 고딕"/>
              </a:rPr>
              <a:t>•  pipeline.py  프레임 루프에서 3단계 호출, 트랙별 상태(이동 이력·PCPA 버퍼) 관리, overlay.mp4 기록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EAE0CF"/>
                </a:solidFill>
                <a:latin typeface="맑은 고딕"/>
              </a:rPr>
              <a:t>•  run.py  명령행 실행 → 보행자별 확률 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074920"/>
            <a:ext cx="448056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EAE0CF"/>
                </a:solidFill>
                <a:latin typeface="맑은 고딕"/>
              </a:rPr>
              <a:t>•  app.py (Streamlit)  영상 선택/업로드 → 분석 → H.264 변환 → 대형 영상 + 판정 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EAE0CF"/>
                </a:solidFill>
                <a:latin typeface="맑은 고딕"/>
              </a:rPr>
              <a:t>•  결과 저장: mp4 단독 또는 mp4 + CSV zip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83280" y="4389120"/>
            <a:ext cx="0" cy="274320"/>
          </a:xfrm>
          <a:prstGeom prst="line">
            <a:avLst/>
          </a:prstGeom>
          <a:ln w="31750">
            <a:solidFill>
              <a:srgbClr val="7288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680" y="4389120"/>
            <a:ext cx="0" cy="274320"/>
          </a:xfrm>
          <a:prstGeom prst="line">
            <a:avLst/>
          </a:prstGeom>
          <a:ln w="31750">
            <a:solidFill>
              <a:srgbClr val="7288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84080" y="4389120"/>
            <a:ext cx="0" cy="274320"/>
          </a:xfrm>
          <a:prstGeom prst="line">
            <a:avLst/>
          </a:prstGeom>
          <a:ln w="31750">
            <a:solidFill>
              <a:srgbClr val="7288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2-3. 프로젝트 소개 - 설계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2 / 프로젝트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4B5694"/>
                </a:solidFill>
                <a:latin typeface="맑은 고딕"/>
              </a:rPr>
              <a:t>설계 원칙: 각 모델이 학습된 입력·출력 규격을 그대로 지키며 연결한다 (모델 내부는 손대지 않음)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9164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377440"/>
                <a:gridCol w="2377440"/>
                <a:gridCol w="1920240"/>
                <a:gridCol w="3474720"/>
              </a:tblGrid>
              <a:tr h="746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AE0C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AE0CF"/>
                          </a:solidFill>
                          <a:latin typeface="맑은 고딕"/>
                        </a:rPr>
                        <a:t>모델 / 가중치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AE0CF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AE0CF"/>
                          </a:solidFill>
                          <a:latin typeface="맑은 고딕"/>
                        </a:rPr>
                        <a:t>출력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AE0CF"/>
                          </a:solidFill>
                          <a:latin typeface="맑은 고딕"/>
                        </a:rPr>
                        <a:t>설계 포인트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844"/>
                          </a:solidFill>
                          <a:latin typeface="맑은 고딕"/>
                        </a:rPr>
                        <a:t>1 검출·추적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yolo11s.pt (GPU) / yolo11n.pt (CPU)
BoT-SORT + ReID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프레임 (H,W,3) BGR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bbox, class, conf, track_id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낮은 신뢰도(0.1) 박스로 기존 트랙 잇기, 150프레임 기억, 검출기 특징으로 외형 비교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844"/>
                          </a:solidFill>
                          <a:latin typeface="맑은 고딕"/>
                        </a:rPr>
                        <a:t>2 자세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yolo11s-pose.pt / yolo11n-pose.pt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bbox 1.5배 crop (384px)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관절 17×(x,y) + conf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4K 전체 대신 crop → 원거리 소형 보행자 관절 확보, crop 내 다수 인물 중 원 bbox 중심 최근접 선택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844"/>
                          </a:solidFill>
                          <a:latin typeface="맑은 고딕"/>
                        </a:rPr>
                        <a:t>3 의도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pcpa_iddped.h5 (IDD-PeD 공식)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local context 16×112×112×3
pose 16×34, box 16×4, speed 16×1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확률 0~1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TF2.2 h5를 tf-keras로 구조 재구성 후 이름 기준 가중치 로드, 21개 레이어 전수 검증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844"/>
                          </a:solidFill>
                          <a:latin typeface="맑은 고딕"/>
                        </a:rPr>
                        <a:t>연결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pipeline.py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영상 파일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보행자별 마지막 확률 + overlay.mp4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트랙별 16프레임 버퍼, 2프레임마다 추론(stride)으로 속도 확보, 디바이스 자동 선택(cuda&gt;mps&gt;cpu)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844"/>
                          </a:solidFill>
                          <a:latin typeface="맑은 고딕"/>
                        </a:rPr>
                        <a:t>서비스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app.py (Streamlit)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영상 선택/업로드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관제 화면, mp4/CSV 저장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결과 캐시(재분석 없이 즉시 표시), 모델 1회 로드, 테마·CSS 분리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2-4. 프로젝트 소개 - 구현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2 / 프로젝트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3035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PCPA 체크포인트 이식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530352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공개 h5는 TF 2.2 저장본 - 최신 Keras에서 Lambda 레이어 역직렬화 실패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원본과 동일한 레이어 이름으로 구조 재구성 → load_weights(by_name)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원본 코드의 attention 이름 밀림 버그까지 재현해 21개 레이어 전부 일치 확인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CCTV엔 자차가 없어 speed 입력은 0으로 고정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34440"/>
            <a:ext cx="53035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자세 → 사람이 읽는 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530352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body_frontal 어깨폭/몸통높이 (정면 vs 측면)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head_turn·facing_x 코가 두 귀 중심에서 벗어난 정도 (주변 살피기)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hand_gesture 손목이 어깨보다 위 또는 옆으로 뻗음 (수신호)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speed_bh·motion_onset 발 위치 이동을 키로 정규화, 정지→걷기 전환 감지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947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794760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53035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추적 안정화 - 한 사람 = 한 번호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530352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ByteTrack 기본값: 같은 사람이 16개 번호로 분열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BoT-SORT + ReID(추가 모델 없이 검출기 특징 재사용) + 10초 유지 + 낮은 신뢰도 연결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고정 카메라라 흔들림 보정 제거 → 4K에서 3배 빠름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결과: 16 → 12개 (핵심 보행자는 끝까지 한 번호)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947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794760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794760"/>
            <a:ext cx="53035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실행 환경·서비스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97680"/>
            <a:ext cx="530352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PyTorch를 드라이버 호환 CUDA 12.6 휠로 고정, TF와 충돌하는 triton 제외 (segfault 해결)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OpenCV mp4v → ffmpeg H.264 변환으로 브라우저 재생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Streamlit 관제 UI: 와이드 영상, 판정 표, 지표, 저장 버튼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macOS(MPS)·Linux(CUDA)·CPU 모두 같은 코드로 동작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2-5. 프로젝트 소개 - 핵심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2 / 프로젝트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8</a:t>
            </a:r>
          </a:p>
        </p:txBody>
      </p:sp>
      <p:pic>
        <p:nvPicPr>
          <p:cNvPr id="8" name="Picture 7" descr="ppt_fram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949440" cy="39090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166360"/>
            <a:ext cx="694944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0">
                <a:solidFill>
                  <a:srgbClr val="7288AE"/>
                </a:solidFill>
                <a:latin typeface="맑은 고딕"/>
              </a:rPr>
              <a:t>분석 결과 오버레이: 박스 색 = 확률(초록 0 → 빨강 1), 노란 점·선 = 관절, 파란 박스 = 차량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234440"/>
            <a:ext cx="402336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0" y="1234440"/>
            <a:ext cx="402336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234440"/>
            <a:ext cx="384048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관제 화면 핵심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37360"/>
            <a:ext cx="3840480" cy="4389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영상 선택 / 업로드 (사이드바)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상단: 시스템명 + 영상 파일명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가운데: 대형 오버레이 영상 - 보행자 번호와 확률을 박스에 표시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오른쪽: 탐지 보행자 수, 횡단 의도 수, 보행자별 확률·판정 표 (기준 0.5)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이미 분석한 영상은 즉시 표시, '다시 분석' 가능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저장: 영상(mp4) 또는 영상 + CSV(zip) 선택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테마 4색(#111844 #4B5694 #7288AE #EAE0CF), 스타일은 CSS 파일로 분리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3-1. 활용 장비 및 핵심 기술 - 개발 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3 / 장비·기술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35440"/>
              </a:tblGrid>
              <a:tr h="528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AE0C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AE0C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하드웨어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NVIDIA GeForce RTX 4060 Laptop GPU (8GB) · 개발 PC (WSL2 Ubuntu) · macOS(Apple Silicon, MPS)에서도 동일 코드 동작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언어 / 런타임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Python 3.12 · uv (의존성 잠금, 플랫폼별 휠 자동 선택: Linux는 CUDA 12.6 빌드, macOS는 MPS 빌드)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딥러닝 프레임워크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PyTorch 2.14 (+cu126) · TensorFlow 2.20 + tf-keras (PCPA 실행)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모델 라이브러리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ultralytics 8.4 (YOLO11, YOLO11-pose, BoT-SORT 추적)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영상 처리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OpenCV 5.0 (프레임 입출력, 오버레이) · imageio-ffmpeg (H.264 변환)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서비스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Streamlit 1.63 (관제 UI) · pandas (판정 표/CSV)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테스트 영상: 고정 CCTV 4K(3840×2160) 15fps · 사전학습 가중치: COCO(YOLO), IDD-PeD(PCPA)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844"/>
                          </a:solidFill>
                          <a:latin typeface="맑은 고딕"/>
                        </a:rPr>
                        <a:t>실행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44"/>
                          </a:solidFill>
                          <a:latin typeface="맑은 고딕"/>
                        </a:rPr>
                        <a:t>uv sync → uv run run.py 영상 / uv run streamlit run app.py  (가중치는 첫 실행 시 자동 다운로드)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3-2. 활용 장비 및 핵심 기술 - 핵심 기술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3 / 장비·기술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365760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3474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YOLO11 객체 검출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347472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COCO 80클래스 사전학습, 사람·차량 5종만 사용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GPU: s 모델, CPU: n 모델 자동 선택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4K 입력을 1280으로 축소해 처리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344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234440"/>
            <a:ext cx="365760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234440"/>
            <a:ext cx="3474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BoT-SORT + ReID 추적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737360"/>
            <a:ext cx="347472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칼만 필터 + IoU 매칭에 외형 특징 비교 추가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놓친 트랙 10초 기억, 약한 박스로 이어 붙임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검출기 backbone 특징 재사용 → 추가 모델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344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234440"/>
            <a:ext cx="365760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234440"/>
            <a:ext cx="3474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YOLO11-pose 관절 추정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737360"/>
            <a:ext cx="347472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COCO 17 keypoints + 관절별 신뢰도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crop 기반 추론으로 원거리 보행자 대응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관절 → 자세·제스처 지표 규칙 계산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794760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94760"/>
            <a:ext cx="53035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PCPA (Pedestrian Crossing Prediction with Attention)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530352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C3D(3D CNN)로 16프레임 영상 조각 임베딩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pose·box·speed 각각 GRU(256) + attention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모달리티 attention 후 sigmoid → 횡단 확률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IDD-PeD 데이터로 학습된 공식 체크포인트 사용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947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3794760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794760"/>
            <a:ext cx="53035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서비스·운영 기술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297680"/>
            <a:ext cx="530352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Streamlit: 세션 캐시로 모델 1회 로드, 결과 캐시로 즉시 표시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ffmpeg H.264 + faststart로 브라우저 스트리밍 재생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uv 잠금 파일로 GPU/CPU/macOS 환경 재현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faulthandler·로그 억제 등 운영 안정화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4-1. 프로젝트 구체적 실행 내역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4 / 실행 내역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4B5694"/>
                </a:solidFill>
                <a:latin typeface="맑은 고딕"/>
              </a:rPr>
              <a:t>실행 흐름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600200"/>
            <a:ext cx="411480" cy="411480"/>
          </a:xfrm>
          <a:prstGeom prst="ellipse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41148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EAE0CF"/>
                </a:solidFill>
                <a:latin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00200"/>
            <a:ext cx="493776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영상 열기 (4K, 15fps)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167128"/>
            <a:ext cx="411480" cy="411480"/>
          </a:xfrm>
          <a:prstGeom prst="ellipse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67128"/>
            <a:ext cx="41148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EAE0C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67128"/>
            <a:ext cx="493776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프레임마다 검출·추적 → 자세 → 지표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734056"/>
            <a:ext cx="411480" cy="411480"/>
          </a:xfrm>
          <a:prstGeom prst="ellipse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34056"/>
            <a:ext cx="41148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EAE0C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34056"/>
            <a:ext cx="493776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트랙별 16프레임 버퍼가 차면 2프레임마다 PCPA 추론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300984"/>
            <a:ext cx="411480" cy="411480"/>
          </a:xfrm>
          <a:prstGeom prst="ellipse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00984"/>
            <a:ext cx="41148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EAE0C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00984"/>
            <a:ext cx="493776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오버레이 프레임을 1280폭으로 기록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867912"/>
            <a:ext cx="411480" cy="411480"/>
          </a:xfrm>
          <a:prstGeom prst="ellipse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67912"/>
            <a:ext cx="41148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EAE0C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867912"/>
            <a:ext cx="493776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111844"/>
                </a:solidFill>
                <a:latin typeface="맑은 고딕"/>
              </a:rPr>
              <a:t>보행자별 마지막 확률 출력 → 관제 화면 표시·저장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4B5694"/>
                </a:solidFill>
                <a:latin typeface="맑은 고딕"/>
              </a:rPr>
              <a:t>실측 결과 (test.mp4)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217920" y="1600200"/>
          <a:ext cx="5486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</a:tblGrid>
              <a:tr h="37882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AE0C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AE0C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844"/>
                          </a:solidFill>
                          <a:latin typeface="맑은 고딕"/>
                        </a:rPr>
                        <a:t>영상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3840×2160, 15fps, 288프레임 (19.2초)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844"/>
                          </a:solidFill>
                          <a:latin typeface="맑은 고딕"/>
                        </a:rPr>
                        <a:t>처리 속도 (RTX 4060)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약 8.5 fps (전체 파이프라인) → 19초 영상을 34초에 처리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844"/>
                          </a:solidFill>
                          <a:latin typeface="맑은 고딕"/>
                        </a:rPr>
                        <a:t>탐지 보행자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9명 (16프레임 이상 관측)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844"/>
                          </a:solidFill>
                          <a:latin typeface="맑은 고딕"/>
                        </a:rPr>
                        <a:t>횡단 의도 판정 (≥0.5)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6명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844"/>
                          </a:solidFill>
                          <a:latin typeface="맑은 고딕"/>
                        </a:rPr>
                        <a:t>추적 ID 분열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ByteTrack 기본 16개 → BoT-SORT+ReID 12개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844"/>
                          </a:solidFill>
                          <a:latin typeface="맑은 고딕"/>
                        </a:rPr>
                        <a:t>관제 화면 재표시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44"/>
                          </a:solidFill>
                          <a:latin typeface="맑은 고딕"/>
                        </a:rPr>
                        <a:t>0.2초 (결과 캐시)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4B5694"/>
                </a:solidFill>
                <a:latin typeface="맑은 고딕"/>
              </a:rPr>
              <a:t>실행 중 해결한 문제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4892040"/>
          <a:ext cx="112471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114800"/>
                <a:gridCol w="4114800"/>
              </a:tblGrid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AE0CF"/>
                          </a:solidFill>
                          <a:latin typeface="맑은 고딕"/>
                        </a:rPr>
                        <a:t>문제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AE0CF"/>
                          </a:solidFill>
                          <a:latin typeface="맑은 고딕"/>
                        </a:rPr>
                        <a:t>원인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AE0CF"/>
                          </a:solidFill>
                          <a:latin typeface="맑은 고딕"/>
                        </a:rPr>
                        <a:t>해결</a:t>
                      </a:r>
                    </a:p>
                  </a:txBody>
                  <a:tcPr marL="73152" marR="73152" marT="36576" marB="36576" anchor="ctr">
                    <a:solidFill>
                      <a:srgbClr val="4B569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844"/>
                          </a:solidFill>
                          <a:latin typeface="맑은 고딕"/>
                        </a:rPr>
                        <a:t>GPU가 있는데 device=cpu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44"/>
                          </a:solidFill>
                          <a:latin typeface="맑은 고딕"/>
                        </a:rPr>
                        <a:t>PyPI torch가 CUDA 13 빌드, 드라이버는 12.7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44"/>
                          </a:solidFill>
                          <a:latin typeface="맑은 고딕"/>
                        </a:rPr>
                        <a:t>CUDA 12.6 빌드 휠로 고정 (uv 인덱스 설정)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844"/>
                          </a:solidFill>
                          <a:latin typeface="맑은 고딕"/>
                        </a:rPr>
                        <a:t>첫 프레임에서 조용히 종료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44"/>
                          </a:solidFill>
                          <a:latin typeface="맑은 고딕"/>
                        </a:rPr>
                        <a:t>TensorFlow 로드 후 triton 네이티브 라이브러리 segfault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44"/>
                          </a:solidFill>
                          <a:latin typeface="맑은 고딕"/>
                        </a:rPr>
                        <a:t>triton 제외 + faulthandler로 원인 노출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844"/>
                          </a:solidFill>
                          <a:latin typeface="맑은 고딕"/>
                        </a:rPr>
                        <a:t>같은 사람에게 번호가 계속 바뀜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44"/>
                          </a:solidFill>
                          <a:latin typeface="맑은 고딕"/>
                        </a:rPr>
                        <a:t>짧은 가림·중복 박스에 ByteTrack 기본값이 취약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44"/>
                          </a:solidFill>
                          <a:latin typeface="맑은 고딕"/>
                        </a:rPr>
                        <a:t>BoT-SORT+ReID, 유지 시간·임계값 조정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844"/>
                          </a:solidFill>
                          <a:latin typeface="맑은 고딕"/>
                        </a:rPr>
                        <a:t>브라우저에서 영상 재생 안 됨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44"/>
                          </a:solidFill>
                          <a:latin typeface="맑은 고딕"/>
                        </a:rPr>
                        <a:t>OpenCV mp4v 코덱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44"/>
                          </a:solidFill>
                          <a:latin typeface="맑은 고딕"/>
                        </a:rPr>
                        <a:t>ffmpeg로 H.264 변환</a:t>
                      </a:r>
                    </a:p>
                  </a:txBody>
                  <a:tcPr marL="73152" marR="73152" marT="36576" marB="36576" anchor="ctr">
                    <a:solidFill>
                      <a:srgbClr val="F6F1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4-2. 실행 결과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4 / 실행 내역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12</a:t>
            </a:r>
          </a:p>
        </p:txBody>
      </p:sp>
      <p:pic>
        <p:nvPicPr>
          <p:cNvPr id="8" name="Picture 7" descr="ppt_fram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532120" cy="3111818"/>
          </a:xfrm>
          <a:prstGeom prst="rect">
            <a:avLst/>
          </a:prstGeom>
        </p:spPr>
      </p:pic>
      <p:pic>
        <p:nvPicPr>
          <p:cNvPr id="9" name="Picture 8" descr="ppt_fram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80160"/>
            <a:ext cx="5532120" cy="31118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434840"/>
            <a:ext cx="5532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t = 6.0s  두 보행자가 도로로 진입, 확률 상승(빨강)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4434840"/>
            <a:ext cx="5532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t = 9.0s  횡단 중 보행자 p=0.99, 정지 보행자 p=0.00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4B5694"/>
                </a:solidFill>
                <a:latin typeface="맑은 고딕"/>
              </a:rPr>
              <a:t>읽는 법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보행자 박스: ped#번호 p=확률, 색이 초록(0)에서 빨강(1)으로 변함 · 박스 아래: 걷는 속도(spd), 이동 시작(onset), 고개 돌림(head), 손짓(gest)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상단 배너: 프레임 번호·시각, 단계별 탐지 수 · 하단 띠: 확률이 가장 높은 보행자의 PCPA 입력(최근 16프레임)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터미널 출력은 보행자별 확률 한 줄씩, 관제 화면은 같은 값을 표와 지표로 표시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EAE0CF"/>
                </a:solidFill>
                <a:latin typeface="맑은 고딕"/>
              </a:rPr>
              <a:t>5. 활용 방안 및 기대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300" b="0">
                <a:solidFill>
                  <a:srgbClr val="7288AE"/>
                </a:solidFill>
                <a:latin typeface="맑은 고딕"/>
              </a:rPr>
              <a:t>5 / 활용·기대효과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비신호 횡단보도 보행자 횡단 의도 추정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1000" b="0">
                <a:solidFill>
                  <a:srgbClr val="7288AE"/>
                </a:solidFill>
                <a:latin typeface="맑은 고딕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3035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산출물의 기대 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530352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사고 '후' 확인에서 사고 '전' 징후 포착으로 - 비신호 횡단보도 보행자 사고 예방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보행자 번호·확률·판정이 남아 상황 재구성과 근거 자료 확보 용이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추가 학습 없이 기존 CCTV 영상에 바로 적용 → 도입 비용·기간 최소화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GPU 없는 PC와 macOS에서도 동작해 현장 배포 부담 낮음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48640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34440"/>
            <a:ext cx="53035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비즈니스 · 실무 활용성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530352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경찰 관제실: 횡단 의도 보행자 발생 시 순찰·단속 판단 보조, 결과 mp4/CSV 보관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지자체 스마트 횡단보도: 의도 감지 시 바닥 신호등·차량 경고 표지 연동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교통안전 정책: 지점별 횡단 의도 빈도 데이터로 신호기 설치 우선순위 산정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보험·사고 분석: 사고 직전 보행자 행동(고개 돌림, 손짓, 이동 시작) 객관화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86200"/>
            <a:ext cx="112471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28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11247120" cy="457200"/>
          </a:xfrm>
          <a:prstGeom prst="roundRect">
            <a:avLst>
              <a:gd name="adj" fmla="val 30000"/>
            </a:avLst>
          </a:prstGeom>
          <a:solidFill>
            <a:srgbClr val="4B5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1106424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EAE0CF"/>
                </a:solidFill>
                <a:latin typeface="맑은 고딕"/>
              </a:rPr>
              <a:t>향후 발전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11064240" cy="1737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국내 CCTV 시점 데이터로 PCPA 미세조정 - 현재는 차량 시점 학습 모델이라 확률이 참고값 (0/1 근처로 치우침)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실시간 RTSP 스트림 입력과 임계값 초과 시 알림(경보) 연동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차량 정지 여부·횡단보도 영역과의 거리 등 상황 정보 결합 (좌표 지정 방식 실험 완료)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>
                <a:solidFill>
                  <a:srgbClr val="111844"/>
                </a:solidFill>
                <a:latin typeface="맑은 고딕"/>
              </a:rPr>
              <a:t>•  다중 카메라 동시 처리와 결과 DB 축적으로 관제 시스템 확장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377440"/>
            <a:ext cx="164592" cy="1463040"/>
          </a:xfrm>
          <a:prstGeom prst="rect">
            <a:avLst/>
          </a:prstGeom>
          <a:solidFill>
            <a:srgbClr val="728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EAE0C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7288AE"/>
                </a:solidFill>
                <a:latin typeface="맑은 고딕"/>
              </a:rPr>
              <a:t>비신호 횡단보도 보행자 횡단 의도 추정 시스템 - '있다'를 넘어 '건너려 한다'를 미리 읽는다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100584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>
                <a:solidFill>
                  <a:srgbClr val="EAE0CF"/>
                </a:solidFill>
                <a:latin typeface="맑은 고딕"/>
              </a:rPr>
              <a:t>실행:  uv sync  →  uv run streamlit run app.py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EAE0CF"/>
                </a:solidFill>
                <a:latin typeface="맑은 고딕"/>
              </a:rPr>
              <a:t>구성:  YOLO11 검출·추적  →  YOLO11-pose 자세 지표  →  PCPA 횡단 의도 확률  →  Streamlit 관제 화면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